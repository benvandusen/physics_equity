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6" r:id="rId9"/>
    <p:sldId id="261" r:id="rId10"/>
    <p:sldId id="270" r:id="rId11"/>
    <p:sldId id="264" r:id="rId12"/>
    <p:sldId id="271" r:id="rId13"/>
    <p:sldId id="265" r:id="rId14"/>
    <p:sldId id="263" r:id="rId15"/>
    <p:sldId id="27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4"/>
    <p:restoredTop sz="94648"/>
  </p:normalViewPr>
  <p:slideViewPr>
    <p:cSldViewPr snapToGrid="0" snapToObjects="1">
      <p:cViewPr>
        <p:scale>
          <a:sx n="110" d="100"/>
          <a:sy n="110" d="100"/>
        </p:scale>
        <p:origin x="-3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5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2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5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5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8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7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2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8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B2C43-9FD0-4D4D-9CFF-70F34DE1DCE7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D584F-9258-E047-9F06-2FE3CC507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635000"/>
            <a:ext cx="8763000" cy="558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53833" y="244549"/>
            <a:ext cx="3170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just put this here for the labels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35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175"/>
            <a:ext cx="8928100" cy="5562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28100" y="350875"/>
            <a:ext cx="32639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Differences</a:t>
            </a:r>
          </a:p>
          <a:p>
            <a:r>
              <a:rPr lang="en-US" dirty="0" smtClean="0"/>
              <a:t>For the third column (Black) women are higher than men in interaction but neither difference is statistically significant.</a:t>
            </a:r>
          </a:p>
          <a:p>
            <a:r>
              <a:rPr lang="en-US" dirty="0" smtClean="0"/>
              <a:t>Islander and Other are also similar in the interaction model but again the differences aren’t statistically significant.</a:t>
            </a:r>
          </a:p>
          <a:p>
            <a:endParaRPr lang="en-US" dirty="0"/>
          </a:p>
          <a:p>
            <a:r>
              <a:rPr lang="en-US" dirty="0" smtClean="0"/>
              <a:t>Gender differences are consistent for the largest groups </a:t>
            </a:r>
            <a:r>
              <a:rPr lang="mr-IN" dirty="0" smtClean="0"/>
              <a:t>–</a:t>
            </a:r>
            <a:r>
              <a:rPr lang="en-US" dirty="0" smtClean="0"/>
              <a:t> white, </a:t>
            </a:r>
            <a:r>
              <a:rPr lang="en-US" dirty="0" err="1" smtClean="0"/>
              <a:t>hispanic</a:t>
            </a:r>
            <a:r>
              <a:rPr lang="en-US" dirty="0" smtClean="0"/>
              <a:t>, and </a:t>
            </a:r>
            <a:r>
              <a:rPr lang="en-US" dirty="0" err="1" smtClean="0"/>
              <a:t>asian</a:t>
            </a:r>
            <a:r>
              <a:rPr lang="en-US" dirty="0" smtClean="0"/>
              <a:t>, though smaller for </a:t>
            </a:r>
            <a:r>
              <a:rPr lang="en-US" dirty="0" err="1" smtClean="0"/>
              <a:t>asian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I’m not sure what to make of the </a:t>
            </a:r>
            <a:r>
              <a:rPr lang="en-US" dirty="0" err="1" smtClean="0"/>
              <a:t>amind</a:t>
            </a:r>
            <a:r>
              <a:rPr lang="en-US" dirty="0" smtClean="0"/>
              <a:t> (American Indian)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36710" y="5913475"/>
            <a:ext cx="2154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 is no interaction</a:t>
            </a:r>
          </a:p>
          <a:p>
            <a:r>
              <a:rPr lang="en-US" dirty="0" smtClean="0"/>
              <a:t>Bottom is interaction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0" t="81554" r="17826"/>
          <a:stretch/>
        </p:blipFill>
        <p:spPr>
          <a:xfrm>
            <a:off x="785813" y="5461031"/>
            <a:ext cx="6357938" cy="103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1140443"/>
            <a:ext cx="6442076" cy="25139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210" y="1154731"/>
            <a:ext cx="7237515" cy="43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2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471488"/>
            <a:ext cx="96154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Big takeaway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Based on our models it looks like there is a statistically significant and meaningful gender difference for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White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Hispanic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There is a not statistically significant gender difference for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Black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American Indian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Pacific Islander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 smtClean="0"/>
              <a:t>Asian </a:t>
            </a:r>
            <a:r>
              <a:rPr lang="mr-IN" dirty="0" smtClean="0"/>
              <a:t>–</a:t>
            </a:r>
            <a:r>
              <a:rPr lang="en-US" dirty="0" smtClean="0"/>
              <a:t> But this one is a little bit different than the others. It is also the only one that is relatively large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</a:p>
          <a:p>
            <a:r>
              <a:rPr lang="en-US" dirty="0"/>
              <a:t>	</a:t>
            </a:r>
            <a:r>
              <a:rPr lang="en-US" dirty="0" smtClean="0"/>
              <a:t>	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Analysis 1/28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6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64982"/>
            <a:ext cx="5181600" cy="1072624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80523"/>
            <a:ext cx="5181600" cy="4241541"/>
          </a:xfrm>
        </p:spPr>
      </p:pic>
    </p:spTree>
    <p:extLst>
      <p:ext uri="{BB962C8B-B14F-4D97-AF65-F5344CB8AC3E}">
        <p14:creationId xmlns:p14="http://schemas.microsoft.com/office/powerpoint/2010/main" val="153465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 </a:t>
            </a:r>
            <a:r>
              <a:rPr lang="en-US" dirty="0" err="1" smtClean="0"/>
              <a:t>gend</a:t>
            </a:r>
            <a:r>
              <a:rPr lang="en-US" dirty="0" smtClean="0"/>
              <a:t>*AHBOP</a:t>
            </a:r>
          </a:p>
          <a:p>
            <a:r>
              <a:rPr lang="en-US" dirty="0" smtClean="0"/>
              <a:t>9 </a:t>
            </a:r>
            <a:r>
              <a:rPr lang="en-US" dirty="0" err="1" smtClean="0"/>
              <a:t>gend</a:t>
            </a:r>
            <a:r>
              <a:rPr lang="en-US" dirty="0" smtClean="0"/>
              <a:t> * AHBOP + </a:t>
            </a:r>
            <a:r>
              <a:rPr lang="en-US" dirty="0" err="1" smtClean="0"/>
              <a:t>Lect</a:t>
            </a:r>
            <a:endParaRPr lang="en-US" dirty="0" smtClean="0"/>
          </a:p>
          <a:p>
            <a:r>
              <a:rPr lang="en-US" dirty="0" smtClean="0"/>
              <a:t>10 </a:t>
            </a:r>
            <a:r>
              <a:rPr lang="en-US" dirty="0" err="1" smtClean="0"/>
              <a:t>gend</a:t>
            </a:r>
            <a:r>
              <a:rPr lang="en-US" dirty="0" smtClean="0"/>
              <a:t> * </a:t>
            </a:r>
            <a:r>
              <a:rPr lang="en-US" dirty="0" err="1" smtClean="0"/>
              <a:t>Lect</a:t>
            </a:r>
            <a:r>
              <a:rPr lang="en-US" dirty="0" smtClean="0"/>
              <a:t> + AHBOP</a:t>
            </a:r>
          </a:p>
          <a:p>
            <a:r>
              <a:rPr lang="en-US" dirty="0" smtClean="0"/>
              <a:t>11 </a:t>
            </a:r>
            <a:r>
              <a:rPr lang="en-US" dirty="0" err="1" smtClean="0"/>
              <a:t>gend</a:t>
            </a:r>
            <a:r>
              <a:rPr lang="en-US" dirty="0" smtClean="0"/>
              <a:t> * </a:t>
            </a:r>
            <a:r>
              <a:rPr lang="en-US" dirty="0" err="1" smtClean="0"/>
              <a:t>lect</a:t>
            </a:r>
            <a:r>
              <a:rPr lang="en-US" dirty="0" smtClean="0"/>
              <a:t> * AHBOP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83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Confidently say that white students have larger gains than any other group when controlling for pretest</a:t>
            </a:r>
          </a:p>
          <a:p>
            <a:r>
              <a:rPr lang="en-US" dirty="0" smtClean="0"/>
              <a:t>We can only say there is a gender difference for White and Hispanic students with confidence</a:t>
            </a:r>
          </a:p>
          <a:p>
            <a:r>
              <a:rPr lang="en-US" dirty="0" smtClean="0"/>
              <a:t>Collaborative only increases learning gains 3 points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2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 </a:t>
            </a:r>
            <a:r>
              <a:rPr lang="en-US" dirty="0" err="1" smtClean="0"/>
              <a:t>gend</a:t>
            </a:r>
            <a:r>
              <a:rPr lang="en-US" dirty="0" smtClean="0"/>
              <a:t>*AHBOP. No lecture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7907"/>
            <a:ext cx="5181600" cy="2506774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88503"/>
            <a:ext cx="5181600" cy="3225582"/>
          </a:xfrm>
        </p:spPr>
      </p:pic>
      <p:sp>
        <p:nvSpPr>
          <p:cNvPr id="7" name="Rectangle 6"/>
          <p:cNvSpPr/>
          <p:nvPr/>
        </p:nvSpPr>
        <p:spPr>
          <a:xfrm>
            <a:off x="4403834" y="3941379"/>
            <a:ext cx="367863" cy="6621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2661" y="5959366"/>
            <a:ext cx="11193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None of the interactions are SS. Black and other are close, </a:t>
            </a:r>
            <a:r>
              <a:rPr lang="en-US" dirty="0" err="1" smtClean="0"/>
              <a:t>asian</a:t>
            </a:r>
            <a:r>
              <a:rPr lang="en-US" dirty="0" smtClean="0"/>
              <a:t> is a little close.  Really this just shows that we should only be confident about gender differences for White and Hispanic students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356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619" y="1825625"/>
            <a:ext cx="7142762" cy="4351338"/>
          </a:xfrm>
        </p:spPr>
      </p:pic>
    </p:spTree>
    <p:extLst>
      <p:ext uri="{BB962C8B-B14F-4D97-AF65-F5344CB8AC3E}">
        <p14:creationId xmlns:p14="http://schemas.microsoft.com/office/powerpoint/2010/main" val="117643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 </a:t>
            </a:r>
            <a:r>
              <a:rPr lang="en-US" dirty="0" err="1" smtClean="0"/>
              <a:t>gend</a:t>
            </a:r>
            <a:r>
              <a:rPr lang="en-US" dirty="0" smtClean="0"/>
              <a:t>*ABHOP + </a:t>
            </a:r>
            <a:r>
              <a:rPr lang="en-US" dirty="0" err="1" smtClean="0"/>
              <a:t>Lect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37715"/>
            <a:ext cx="5181600" cy="2727157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67809"/>
            <a:ext cx="5181600" cy="3266970"/>
          </a:xfrm>
        </p:spPr>
      </p:pic>
      <p:sp>
        <p:nvSpPr>
          <p:cNvPr id="7" name="Rectangle 6"/>
          <p:cNvSpPr/>
          <p:nvPr/>
        </p:nvSpPr>
        <p:spPr>
          <a:xfrm>
            <a:off x="4456386" y="4046483"/>
            <a:ext cx="367863" cy="616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93683" y="6085490"/>
            <a:ext cx="4636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basically looks the exact same. The lecture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515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36" y="1825625"/>
            <a:ext cx="6918528" cy="4351338"/>
          </a:xfrm>
        </p:spPr>
      </p:pic>
    </p:spTree>
    <p:extLst>
      <p:ext uri="{BB962C8B-B14F-4D97-AF65-F5344CB8AC3E}">
        <p14:creationId xmlns:p14="http://schemas.microsoft.com/office/powerpoint/2010/main" val="41140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 </a:t>
            </a:r>
            <a:r>
              <a:rPr lang="en-US" dirty="0" err="1" smtClean="0"/>
              <a:t>gend</a:t>
            </a:r>
            <a:r>
              <a:rPr lang="en-US" dirty="0" smtClean="0"/>
              <a:t>*</a:t>
            </a:r>
            <a:r>
              <a:rPr lang="en-US" dirty="0" err="1" smtClean="0"/>
              <a:t>lect</a:t>
            </a:r>
            <a:r>
              <a:rPr lang="en-US" dirty="0" smtClean="0"/>
              <a:t> + ABHOP 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89322"/>
            <a:ext cx="5181600" cy="3223944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77753"/>
            <a:ext cx="5181600" cy="2447082"/>
          </a:xfrm>
        </p:spPr>
      </p:pic>
      <p:sp>
        <p:nvSpPr>
          <p:cNvPr id="9" name="Rectangle 8"/>
          <p:cNvSpPr/>
          <p:nvPr/>
        </p:nvSpPr>
        <p:spPr>
          <a:xfrm>
            <a:off x="4340772" y="4309241"/>
            <a:ext cx="367863" cy="15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15007" y="6001407"/>
            <a:ext cx="727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interaction between gender and lecture.  Small coefficient, large p-value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205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9955"/>
            <a:ext cx="5181600" cy="324267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11 </a:t>
            </a:r>
            <a:r>
              <a:rPr lang="en-US" dirty="0" err="1" smtClean="0"/>
              <a:t>gend</a:t>
            </a:r>
            <a:r>
              <a:rPr lang="en-US" dirty="0" smtClean="0"/>
              <a:t> * AHZBOP * </a:t>
            </a:r>
            <a:r>
              <a:rPr lang="en-US" dirty="0" err="1" smtClean="0"/>
              <a:t>Lect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95374"/>
            <a:ext cx="5181600" cy="3611839"/>
          </a:xfrm>
        </p:spPr>
      </p:pic>
      <p:sp>
        <p:nvSpPr>
          <p:cNvPr id="8" name="Rectangle 7"/>
          <p:cNvSpPr/>
          <p:nvPr/>
        </p:nvSpPr>
        <p:spPr>
          <a:xfrm>
            <a:off x="2706413" y="3689131"/>
            <a:ext cx="367863" cy="578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06413" y="4378399"/>
            <a:ext cx="367863" cy="5614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706413" y="4950374"/>
            <a:ext cx="367863" cy="5614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27176" y="3689131"/>
            <a:ext cx="367863" cy="578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27176" y="4378399"/>
            <a:ext cx="367863" cy="5614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627176" y="4950374"/>
            <a:ext cx="367863" cy="5614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16110" y="126124"/>
            <a:ext cx="539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three way interaction makes this hard to follow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81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0831"/>
            <a:ext cx="5181600" cy="3280925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86580"/>
            <a:ext cx="5181600" cy="3229428"/>
          </a:xfrm>
        </p:spPr>
      </p:pic>
      <p:sp>
        <p:nvSpPr>
          <p:cNvPr id="6" name="TextBox 5"/>
          <p:cNvSpPr txBox="1"/>
          <p:nvPr/>
        </p:nvSpPr>
        <p:spPr>
          <a:xfrm>
            <a:off x="2718260" y="1991499"/>
            <a:ext cx="1421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Collaborative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61094" y="2017248"/>
            <a:ext cx="886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97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8 and 11 for</a:t>
            </a:r>
            <a:endParaRPr lang="en-US" dirty="0"/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88503"/>
            <a:ext cx="5181600" cy="322558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212" r="19898" b="5346"/>
          <a:stretch/>
        </p:blipFill>
        <p:spPr>
          <a:xfrm>
            <a:off x="6172199" y="1983049"/>
            <a:ext cx="5000625" cy="3631036"/>
          </a:xfrm>
        </p:spPr>
      </p:pic>
      <p:sp>
        <p:nvSpPr>
          <p:cNvPr id="8" name="TextBox 7"/>
          <p:cNvSpPr txBox="1"/>
          <p:nvPr/>
        </p:nvSpPr>
        <p:spPr>
          <a:xfrm>
            <a:off x="6629400" y="171450"/>
            <a:ext cx="5457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These two models basically give us the exact same values. The lecture model is a bit different but it has large error bars.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62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5972</TotalTime>
  <Words>328</Words>
  <Application>Microsoft Macintosh PowerPoint</Application>
  <PresentationFormat>Widescreen</PresentationFormat>
  <Paragraphs>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Mangal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Analysis 1/28</vt:lpstr>
      <vt:lpstr>PowerPoint Presentation</vt:lpstr>
      <vt:lpstr>PowerPoint Presentation</vt:lpstr>
      <vt:lpstr>Notes</vt:lpstr>
      <vt:lpstr>8 gend*AHBOP. No lecture</vt:lpstr>
      <vt:lpstr>Differences</vt:lpstr>
      <vt:lpstr>9 gend*ABHOP + Lect</vt:lpstr>
      <vt:lpstr>PowerPoint Presentation</vt:lpstr>
      <vt:lpstr>10 gend*lect + ABHOP </vt:lpstr>
      <vt:lpstr>11 gend * AHZBOP * Lect</vt:lpstr>
      <vt:lpstr>PowerPoint Presentation</vt:lpstr>
      <vt:lpstr>Comparing 8 and 11 for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Jayson</dc:creator>
  <cp:lastModifiedBy>Jayson</cp:lastModifiedBy>
  <cp:revision>13</cp:revision>
  <dcterms:created xsi:type="dcterms:W3CDTF">2019-01-24T19:25:45Z</dcterms:created>
  <dcterms:modified xsi:type="dcterms:W3CDTF">2019-01-28T22:58:32Z</dcterms:modified>
</cp:coreProperties>
</file>